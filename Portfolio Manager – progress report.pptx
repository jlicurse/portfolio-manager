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Lst>
  <p:notesMasterIdLst>
    <p:notesMasterId r:id="rId10"/>
  </p:notesMasterIdLst>
  <p:sldIdLst>
    <p:sldId id="256" r:id="rId2"/>
    <p:sldId id="257" r:id="rId3"/>
    <p:sldId id="258" r:id="rId4"/>
    <p:sldId id="259" r:id="rId5"/>
    <p:sldId id="263" r:id="rId6"/>
    <p:sldId id="260" r:id="rId7"/>
    <p:sldId id="261" r:id="rId8"/>
    <p:sldId id="262"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9" autoAdjust="0"/>
    <p:restoredTop sz="77890" autoAdjust="0"/>
  </p:normalViewPr>
  <p:slideViewPr>
    <p:cSldViewPr snapToGrid="0">
      <p:cViewPr varScale="1">
        <p:scale>
          <a:sx n="125" d="100"/>
          <a:sy n="125" d="100"/>
        </p:scale>
        <p:origin x="1592"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B6DA88-7796-4ADF-9599-5CBC583817F0}" type="datetimeFigureOut">
              <a:rPr lang="en-US" smtClean="0"/>
              <a:t>3/16/2026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93CDC0-4834-4176-AE40-B7F213B462DB}" type="slidenum">
              <a:rPr lang="en-US" smtClean="0"/>
              <a:t>‹#›</a:t>
            </a:fld>
            <a:endParaRPr lang="en-US"/>
          </a:p>
        </p:txBody>
      </p:sp>
    </p:spTree>
    <p:extLst>
      <p:ext uri="{BB962C8B-B14F-4D97-AF65-F5344CB8AC3E}">
        <p14:creationId xmlns:p14="http://schemas.microsoft.com/office/powerpoint/2010/main" val="79214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of this project is to build a backend service that allows users to create portfolios and manage investment positions such as stocks or  Exchange-Traded Funds (or ETFs </a:t>
            </a:r>
            <a:r>
              <a:rPr lang="en-US" dirty="0">
                <a:sym typeface="Wingdings" panose="05000000000000000000" pitchFamily="2" charset="2"/>
              </a:rPr>
              <a:t> collection of assets and trades on an exchange) </a:t>
            </a:r>
          </a:p>
          <a:p>
            <a:r>
              <a:rPr lang="en-US" dirty="0">
                <a:sym typeface="Wingdings" panose="05000000000000000000" pitchFamily="2" charset="2"/>
              </a:rPr>
              <a:t>Really trying to centralize </a:t>
            </a:r>
            <a:r>
              <a:rPr lang="en-US" dirty="0"/>
              <a:t> </a:t>
            </a:r>
          </a:p>
        </p:txBody>
      </p:sp>
      <p:sp>
        <p:nvSpPr>
          <p:cNvPr id="4" name="Slide Number Placeholder 3"/>
          <p:cNvSpPr>
            <a:spLocks noGrp="1"/>
          </p:cNvSpPr>
          <p:nvPr>
            <p:ph type="sldNum" sz="quarter" idx="5"/>
          </p:nvPr>
        </p:nvSpPr>
        <p:spPr/>
        <p:txBody>
          <a:bodyPr/>
          <a:lstStyle/>
          <a:p>
            <a:fld id="{5793CDC0-4834-4176-AE40-B7F213B462DB}" type="slidenum">
              <a:rPr lang="en-US" smtClean="0"/>
              <a:t>2</a:t>
            </a:fld>
            <a:endParaRPr lang="en-US"/>
          </a:p>
        </p:txBody>
      </p:sp>
    </p:spTree>
    <p:extLst>
      <p:ext uri="{BB962C8B-B14F-4D97-AF65-F5344CB8AC3E}">
        <p14:creationId xmlns:p14="http://schemas.microsoft.com/office/powerpoint/2010/main" val="12874670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can create a portfolio, add their own investment positions, update or remove existing positions within the portfolio, and retrieve portfolio information. </a:t>
            </a:r>
          </a:p>
          <a:p>
            <a:r>
              <a:rPr lang="en-US" dirty="0"/>
              <a:t>Investors often track portfolios on the platforms I mentioned before (Yahoo Finance) or other brokerage dashboards. This project builds a backend service that provides similar portfolio tracking functionality. </a:t>
            </a:r>
          </a:p>
          <a:p>
            <a:r>
              <a:rPr lang="en-US" dirty="0"/>
              <a:t>The data stored includes the name of the portfolio, the owner, and the positions in the portfolio. </a:t>
            </a:r>
          </a:p>
          <a:p>
            <a:r>
              <a:rPr lang="en-US" dirty="0"/>
              <a:t>Position information includes ticker symbol, quantity, and average price. </a:t>
            </a:r>
          </a:p>
          <a:p>
            <a:endParaRPr lang="en-US" dirty="0"/>
          </a:p>
        </p:txBody>
      </p:sp>
      <p:sp>
        <p:nvSpPr>
          <p:cNvPr id="4" name="Slide Number Placeholder 3"/>
          <p:cNvSpPr>
            <a:spLocks noGrp="1"/>
          </p:cNvSpPr>
          <p:nvPr>
            <p:ph type="sldNum" sz="quarter" idx="5"/>
          </p:nvPr>
        </p:nvSpPr>
        <p:spPr/>
        <p:txBody>
          <a:bodyPr/>
          <a:lstStyle/>
          <a:p>
            <a:fld id="{5793CDC0-4834-4176-AE40-B7F213B462DB}" type="slidenum">
              <a:rPr lang="en-US" smtClean="0"/>
              <a:t>3</a:t>
            </a:fld>
            <a:endParaRPr lang="en-US"/>
          </a:p>
        </p:txBody>
      </p:sp>
    </p:spTree>
    <p:extLst>
      <p:ext uri="{BB962C8B-B14F-4D97-AF65-F5344CB8AC3E}">
        <p14:creationId xmlns:p14="http://schemas.microsoft.com/office/powerpoint/2010/main" val="38394348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General – the backend is built using </a:t>
            </a:r>
            <a:r>
              <a:rPr lang="en-US" dirty="0" err="1"/>
              <a:t>SpringBoot</a:t>
            </a:r>
            <a:r>
              <a:rPr lang="en-US" dirty="0"/>
              <a:t> which provides the framework for building and running the REST API, maven for project dependencies </a:t>
            </a:r>
          </a:p>
          <a:p>
            <a:r>
              <a:rPr lang="en-US" dirty="0"/>
              <a:t>	- tech stack: java, spring boot, Spring Data JPA, Maven </a:t>
            </a:r>
          </a:p>
          <a:p>
            <a:endParaRPr lang="en-US" dirty="0"/>
          </a:p>
          <a:p>
            <a:r>
              <a:rPr lang="en-US" dirty="0"/>
              <a:t>Client – tools that interact with the API like PowerShell (will demo later), Postman, or the future frontend application that will soon be apart of this project. </a:t>
            </a:r>
          </a:p>
          <a:p>
            <a:r>
              <a:rPr lang="en-US" dirty="0"/>
              <a:t>	- Client sends HTTP requests to the backend</a:t>
            </a:r>
          </a:p>
          <a:p>
            <a:endParaRPr lang="en-US" dirty="0"/>
          </a:p>
          <a:p>
            <a:r>
              <a:rPr lang="en-US" dirty="0"/>
              <a:t>Controller Layer – this layer handles the API endpoints </a:t>
            </a:r>
            <a:r>
              <a:rPr lang="en-US" dirty="0">
                <a:sym typeface="Wingdings" panose="05000000000000000000" pitchFamily="2" charset="2"/>
              </a:rPr>
              <a:t> receives HTTP requests, validates them, navigates to and calls the service methods and returns HTTP responses </a:t>
            </a:r>
          </a:p>
          <a:p>
            <a:r>
              <a:rPr lang="en-US" dirty="0">
                <a:sym typeface="Wingdings" panose="05000000000000000000" pitchFamily="2" charset="2"/>
              </a:rPr>
              <a:t>	- example endpoints: </a:t>
            </a:r>
            <a:r>
              <a:rPr lang="en-US" dirty="0"/>
              <a:t>POST /api/portfolios</a:t>
            </a:r>
            <a:br>
              <a:rPr lang="en-US" dirty="0"/>
            </a:br>
            <a:r>
              <a:rPr lang="en-US" dirty="0"/>
              <a:t>		           POST /api/portfolios/{id}/positions		</a:t>
            </a:r>
            <a:br>
              <a:rPr lang="en-US" dirty="0"/>
            </a:br>
            <a:r>
              <a:rPr lang="en-US" dirty="0"/>
              <a:t>		           GET /api/portfolios</a:t>
            </a:r>
          </a:p>
          <a:p>
            <a:r>
              <a:rPr lang="en-US" dirty="0"/>
              <a:t>Service Layer – contains business logic and is responsible for managing portfolios and positions, Handle updates and calculations, coordinate between controllers and repos. </a:t>
            </a:r>
          </a:p>
          <a:p>
            <a:r>
              <a:rPr lang="en-US" dirty="0"/>
              <a:t>	- does the actual work of the portfolio managing</a:t>
            </a:r>
          </a:p>
          <a:p>
            <a:r>
              <a:rPr lang="en-US" dirty="0"/>
              <a:t>	- think of controller as the secretary (receives requests from clients, figures out what </a:t>
            </a:r>
            <a:r>
              <a:rPr lang="en-US" dirty="0" err="1"/>
              <a:t>theyre</a:t>
            </a:r>
            <a:r>
              <a:rPr lang="en-US" dirty="0"/>
              <a:t> asking for, passes request to correct service method) and the service as the portfolio manager itself (create a portfolio, add/update/remove positions) </a:t>
            </a:r>
          </a:p>
          <a:p>
            <a:endParaRPr lang="en-US" dirty="0"/>
          </a:p>
          <a:p>
            <a:r>
              <a:rPr lang="en-US" dirty="0"/>
              <a:t>Domain Models – Portfolio and Position objects. These are the main entities that the application manages. Using domain models (object classes) helps separate the core business data of the application from database entities and API request objects. </a:t>
            </a:r>
          </a:p>
          <a:p>
            <a:r>
              <a:rPr lang="en-US" dirty="0"/>
              <a:t>	Characteristics of Portfolio: id, name, owner, positions</a:t>
            </a:r>
          </a:p>
          <a:p>
            <a:r>
              <a:rPr lang="en-US" dirty="0"/>
              <a:t>	Characteristics of Position: symbol, quantity, </a:t>
            </a:r>
            <a:r>
              <a:rPr lang="en-US" dirty="0" err="1"/>
              <a:t>avgPrice</a:t>
            </a:r>
            <a:r>
              <a:rPr lang="en-US" dirty="0"/>
              <a:t> </a:t>
            </a:r>
          </a:p>
          <a:p>
            <a:r>
              <a:rPr lang="en-US" dirty="0"/>
              <a:t>	- in the database, id is a foreign key in position that indicates which portfolio it belongs to.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Repository Layer – JPA repository -  interface between the service layer and the database. Instead of having to manually write SQL queries, it retrieves, stores, updates, and deletes data related to portfolios and positions. It allows the service layer to save/update/delete/retrieve portfolios from the database.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 gives access to functions such as save, findById, </a:t>
            </a:r>
            <a:r>
              <a:rPr lang="en-US" dirty="0" err="1"/>
              <a:t>findAll</a:t>
            </a:r>
            <a:r>
              <a:rPr lang="en-US" dirty="0"/>
              <a:t>, and </a:t>
            </a:r>
            <a:r>
              <a:rPr lang="en-US" dirty="0" err="1"/>
              <a:t>deleteById</a:t>
            </a:r>
            <a:r>
              <a:rPr lang="en-US" dirty="0"/>
              <a:t> </a:t>
            </a:r>
            <a:r>
              <a:rPr lang="en-US" dirty="0">
                <a:sym typeface="Wingdings" panose="05000000000000000000" pitchFamily="2" charset="2"/>
              </a:rPr>
              <a:t> translated by Hibernate into SQL  Database stores and retrieves data.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ym typeface="Wingdings" panose="05000000000000000000" pitchFamily="2" charset="2"/>
              </a:rPr>
              <a:t>	- JPA maps the application’s entity’s objects (Domain entities) to the database table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ym typeface="Wingdings" panose="05000000000000000000" pitchFamily="2" charset="2"/>
              </a:rPr>
              <a:t>H2 Database – where our data lives  using persistence we are able to store data for the application including portfolios and their associated positions. </a:t>
            </a:r>
            <a:endParaRPr lang="en-US" dirty="0"/>
          </a:p>
        </p:txBody>
      </p:sp>
      <p:sp>
        <p:nvSpPr>
          <p:cNvPr id="4" name="Slide Number Placeholder 3"/>
          <p:cNvSpPr>
            <a:spLocks noGrp="1"/>
          </p:cNvSpPr>
          <p:nvPr>
            <p:ph type="sldNum" sz="quarter" idx="5"/>
          </p:nvPr>
        </p:nvSpPr>
        <p:spPr/>
        <p:txBody>
          <a:bodyPr/>
          <a:lstStyle/>
          <a:p>
            <a:fld id="{5793CDC0-4834-4176-AE40-B7F213B462DB}" type="slidenum">
              <a:rPr lang="en-US" smtClean="0"/>
              <a:t>4</a:t>
            </a:fld>
            <a:endParaRPr lang="en-US"/>
          </a:p>
        </p:txBody>
      </p:sp>
    </p:spTree>
    <p:extLst>
      <p:ext uri="{BB962C8B-B14F-4D97-AF65-F5344CB8AC3E}">
        <p14:creationId xmlns:p14="http://schemas.microsoft.com/office/powerpoint/2010/main" val="10209490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93CDC0-4834-4176-AE40-B7F213B462DB}" type="slidenum">
              <a:rPr lang="en-US" smtClean="0"/>
              <a:t>5</a:t>
            </a:fld>
            <a:endParaRPr lang="en-US"/>
          </a:p>
        </p:txBody>
      </p:sp>
    </p:spTree>
    <p:extLst>
      <p:ext uri="{BB962C8B-B14F-4D97-AF65-F5344CB8AC3E}">
        <p14:creationId xmlns:p14="http://schemas.microsoft.com/office/powerpoint/2010/main" val="40779259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a:t>
            </a:r>
            <a:r>
              <a:rPr lang="en-US" dirty="0">
                <a:sym typeface="Wingdings" panose="05000000000000000000" pitchFamily="2" charset="2"/>
              </a:rPr>
              <a:t> core backend of the application is complete. System can create portfolios, manage investment positions, and store data in a database. The next phase will really be about expanding functionality and improving the system. </a:t>
            </a:r>
            <a:endParaRPr lang="en-US" dirty="0"/>
          </a:p>
        </p:txBody>
      </p:sp>
      <p:sp>
        <p:nvSpPr>
          <p:cNvPr id="4" name="Slide Number Placeholder 3"/>
          <p:cNvSpPr>
            <a:spLocks noGrp="1"/>
          </p:cNvSpPr>
          <p:nvPr>
            <p:ph type="sldNum" sz="quarter" idx="5"/>
          </p:nvPr>
        </p:nvSpPr>
        <p:spPr/>
        <p:txBody>
          <a:bodyPr/>
          <a:lstStyle/>
          <a:p>
            <a:fld id="{5793CDC0-4834-4176-AE40-B7F213B462DB}" type="slidenum">
              <a:rPr lang="en-US" smtClean="0"/>
              <a:t>8</a:t>
            </a:fld>
            <a:endParaRPr lang="en-US"/>
          </a:p>
        </p:txBody>
      </p:sp>
    </p:spTree>
    <p:extLst>
      <p:ext uri="{BB962C8B-B14F-4D97-AF65-F5344CB8AC3E}">
        <p14:creationId xmlns:p14="http://schemas.microsoft.com/office/powerpoint/2010/main" val="10872800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B44565EA-4D34-454F-A97F-52A95F5E929A}" type="datetimeFigureOut">
              <a:rPr lang="en-US" smtClean="0"/>
              <a:t>3/16/2026</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557223B5-E016-40FD-8E22-D412B3198115}" type="slidenum">
              <a:rPr lang="en-US" smtClean="0"/>
              <a:t>‹#›</a:t>
            </a:fld>
            <a:endParaRPr lang="en-US"/>
          </a:p>
        </p:txBody>
      </p:sp>
    </p:spTree>
    <p:extLst>
      <p:ext uri="{BB962C8B-B14F-4D97-AF65-F5344CB8AC3E}">
        <p14:creationId xmlns:p14="http://schemas.microsoft.com/office/powerpoint/2010/main" val="13385713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44565EA-4D34-454F-A97F-52A95F5E929A}"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7223B5-E016-40FD-8E22-D412B3198115}" type="slidenum">
              <a:rPr lang="en-US" smtClean="0"/>
              <a:t>‹#›</a:t>
            </a:fld>
            <a:endParaRPr lang="en-US"/>
          </a:p>
        </p:txBody>
      </p:sp>
    </p:spTree>
    <p:extLst>
      <p:ext uri="{BB962C8B-B14F-4D97-AF65-F5344CB8AC3E}">
        <p14:creationId xmlns:p14="http://schemas.microsoft.com/office/powerpoint/2010/main" val="25379399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44565EA-4D34-454F-A97F-52A95F5E929A}"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7223B5-E016-40FD-8E22-D412B3198115}" type="slidenum">
              <a:rPr lang="en-US" smtClean="0"/>
              <a:t>‹#›</a:t>
            </a:fld>
            <a:endParaRPr lang="en-US"/>
          </a:p>
        </p:txBody>
      </p:sp>
    </p:spTree>
    <p:extLst>
      <p:ext uri="{BB962C8B-B14F-4D97-AF65-F5344CB8AC3E}">
        <p14:creationId xmlns:p14="http://schemas.microsoft.com/office/powerpoint/2010/main" val="39681055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44565EA-4D34-454F-A97F-52A95F5E929A}"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7223B5-E016-40FD-8E22-D412B3198115}" type="slidenum">
              <a:rPr lang="en-US" smtClean="0"/>
              <a:t>‹#›</a:t>
            </a:fld>
            <a:endParaRPr lang="en-US"/>
          </a:p>
        </p:txBody>
      </p:sp>
    </p:spTree>
    <p:extLst>
      <p:ext uri="{BB962C8B-B14F-4D97-AF65-F5344CB8AC3E}">
        <p14:creationId xmlns:p14="http://schemas.microsoft.com/office/powerpoint/2010/main" val="30792870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44565EA-4D34-454F-A97F-52A95F5E929A}" type="datetimeFigureOut">
              <a:rPr lang="en-US" smtClean="0"/>
              <a:t>3/16/2026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57223B5-E016-40FD-8E22-D412B3198115}" type="slidenum">
              <a:rPr lang="en-US" smtClean="0"/>
              <a:t>‹#›</a:t>
            </a:fld>
            <a:endParaRPr lang="en-US"/>
          </a:p>
        </p:txBody>
      </p:sp>
    </p:spTree>
    <p:extLst>
      <p:ext uri="{BB962C8B-B14F-4D97-AF65-F5344CB8AC3E}">
        <p14:creationId xmlns:p14="http://schemas.microsoft.com/office/powerpoint/2010/main" val="32219442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44565EA-4D34-454F-A97F-52A95F5E929A}" type="datetimeFigureOut">
              <a:rPr lang="en-US" smtClean="0"/>
              <a:t>3/16/2026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57223B5-E016-40FD-8E22-D412B3198115}" type="slidenum">
              <a:rPr lang="en-US" smtClean="0"/>
              <a:t>‹#›</a:t>
            </a:fld>
            <a:endParaRPr lang="en-US"/>
          </a:p>
        </p:txBody>
      </p:sp>
    </p:spTree>
    <p:extLst>
      <p:ext uri="{BB962C8B-B14F-4D97-AF65-F5344CB8AC3E}">
        <p14:creationId xmlns:p14="http://schemas.microsoft.com/office/powerpoint/2010/main" val="3863395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4565EA-4D34-454F-A97F-52A95F5E929A}" type="datetimeFigureOut">
              <a:rPr lang="en-US" smtClean="0"/>
              <a:t>3/16/2026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57223B5-E016-40FD-8E22-D412B3198115}" type="slidenum">
              <a:rPr lang="en-US" smtClean="0"/>
              <a:t>‹#›</a:t>
            </a:fld>
            <a:endParaRPr lang="en-US"/>
          </a:p>
        </p:txBody>
      </p:sp>
    </p:spTree>
    <p:extLst>
      <p:ext uri="{BB962C8B-B14F-4D97-AF65-F5344CB8AC3E}">
        <p14:creationId xmlns:p14="http://schemas.microsoft.com/office/powerpoint/2010/main" val="3394975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44565EA-4D34-454F-A97F-52A95F5E929A}"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7223B5-E016-40FD-8E22-D412B3198115}" type="slidenum">
              <a:rPr lang="en-US" smtClean="0"/>
              <a:t>‹#›</a:t>
            </a:fld>
            <a:endParaRPr lang="en-US"/>
          </a:p>
        </p:txBody>
      </p:sp>
    </p:spTree>
    <p:extLst>
      <p:ext uri="{BB962C8B-B14F-4D97-AF65-F5344CB8AC3E}">
        <p14:creationId xmlns:p14="http://schemas.microsoft.com/office/powerpoint/2010/main" val="1419555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44565EA-4D34-454F-A97F-52A95F5E929A}"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7223B5-E016-40FD-8E22-D412B3198115}" type="slidenum">
              <a:rPr lang="en-US" smtClean="0"/>
              <a:t>‹#›</a:t>
            </a:fld>
            <a:endParaRPr lang="en-US"/>
          </a:p>
        </p:txBody>
      </p:sp>
    </p:spTree>
    <p:extLst>
      <p:ext uri="{BB962C8B-B14F-4D97-AF65-F5344CB8AC3E}">
        <p14:creationId xmlns:p14="http://schemas.microsoft.com/office/powerpoint/2010/main" val="13419020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44565EA-4D34-454F-A97F-52A95F5E929A}"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7223B5-E016-40FD-8E22-D412B3198115}" type="slidenum">
              <a:rPr lang="en-US" smtClean="0"/>
              <a:t>‹#›</a:t>
            </a:fld>
            <a:endParaRPr lang="en-US"/>
          </a:p>
        </p:txBody>
      </p:sp>
    </p:spTree>
    <p:extLst>
      <p:ext uri="{BB962C8B-B14F-4D97-AF65-F5344CB8AC3E}">
        <p14:creationId xmlns:p14="http://schemas.microsoft.com/office/powerpoint/2010/main" val="1999468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44565EA-4D34-454F-A97F-52A95F5E929A}"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7223B5-E016-40FD-8E22-D412B3198115}" type="slidenum">
              <a:rPr lang="en-US" smtClean="0"/>
              <a:t>‹#›</a:t>
            </a:fld>
            <a:endParaRPr lang="en-US"/>
          </a:p>
        </p:txBody>
      </p:sp>
    </p:spTree>
    <p:extLst>
      <p:ext uri="{BB962C8B-B14F-4D97-AF65-F5344CB8AC3E}">
        <p14:creationId xmlns:p14="http://schemas.microsoft.com/office/powerpoint/2010/main" val="412861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44565EA-4D34-454F-A97F-52A95F5E929A}"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7223B5-E016-40FD-8E22-D412B3198115}"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2177308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44565EA-4D34-454F-A97F-52A95F5E929A}"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7223B5-E016-40FD-8E22-D412B3198115}" type="slidenum">
              <a:rPr lang="en-US" smtClean="0"/>
              <a:t>‹#›</a:t>
            </a:fld>
            <a:endParaRPr lang="en-US"/>
          </a:p>
        </p:txBody>
      </p:sp>
    </p:spTree>
    <p:extLst>
      <p:ext uri="{BB962C8B-B14F-4D97-AF65-F5344CB8AC3E}">
        <p14:creationId xmlns:p14="http://schemas.microsoft.com/office/powerpoint/2010/main" val="22322317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44565EA-4D34-454F-A97F-52A95F5E929A}" type="datetimeFigureOut">
              <a:rPr lang="en-US" smtClean="0"/>
              <a:t>3/16/2026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57223B5-E016-40FD-8E22-D412B3198115}" type="slidenum">
              <a:rPr lang="en-US" smtClean="0"/>
              <a:t>‹#›</a:t>
            </a:fld>
            <a:endParaRPr lang="en-US"/>
          </a:p>
        </p:txBody>
      </p:sp>
    </p:spTree>
    <p:extLst>
      <p:ext uri="{BB962C8B-B14F-4D97-AF65-F5344CB8AC3E}">
        <p14:creationId xmlns:p14="http://schemas.microsoft.com/office/powerpoint/2010/main" val="27645867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44565EA-4D34-454F-A97F-52A95F5E929A}" type="datetimeFigureOut">
              <a:rPr lang="en-US" smtClean="0"/>
              <a:t>3/16/2026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57223B5-E016-40FD-8E22-D412B3198115}" type="slidenum">
              <a:rPr lang="en-US" smtClean="0"/>
              <a:t>‹#›</a:t>
            </a:fld>
            <a:endParaRPr lang="en-US"/>
          </a:p>
        </p:txBody>
      </p:sp>
    </p:spTree>
    <p:extLst>
      <p:ext uri="{BB962C8B-B14F-4D97-AF65-F5344CB8AC3E}">
        <p14:creationId xmlns:p14="http://schemas.microsoft.com/office/powerpoint/2010/main" val="11804191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44565EA-4D34-454F-A97F-52A95F5E929A}"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7223B5-E016-40FD-8E22-D412B3198115}" type="slidenum">
              <a:rPr lang="en-US" smtClean="0"/>
              <a:t>‹#›</a:t>
            </a:fld>
            <a:endParaRPr lang="en-US"/>
          </a:p>
        </p:txBody>
      </p:sp>
    </p:spTree>
    <p:extLst>
      <p:ext uri="{BB962C8B-B14F-4D97-AF65-F5344CB8AC3E}">
        <p14:creationId xmlns:p14="http://schemas.microsoft.com/office/powerpoint/2010/main" val="27788586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44565EA-4D34-454F-A97F-52A95F5E929A}"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7223B5-E016-40FD-8E22-D412B3198115}" type="slidenum">
              <a:rPr lang="en-US" smtClean="0"/>
              <a:t>‹#›</a:t>
            </a:fld>
            <a:endParaRPr lang="en-US"/>
          </a:p>
        </p:txBody>
      </p:sp>
    </p:spTree>
    <p:extLst>
      <p:ext uri="{BB962C8B-B14F-4D97-AF65-F5344CB8AC3E}">
        <p14:creationId xmlns:p14="http://schemas.microsoft.com/office/powerpoint/2010/main" val="948535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44565EA-4D34-454F-A97F-52A95F5E929A}" type="datetimeFigureOut">
              <a:rPr lang="en-US" smtClean="0"/>
              <a:t>3/16/2026</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57223B5-E016-40FD-8E22-D412B3198115}" type="slidenum">
              <a:rPr lang="en-US" smtClean="0"/>
              <a:t>‹#›</a:t>
            </a:fld>
            <a:endParaRPr lang="en-US"/>
          </a:p>
        </p:txBody>
      </p:sp>
    </p:spTree>
    <p:extLst>
      <p:ext uri="{BB962C8B-B14F-4D97-AF65-F5344CB8AC3E}">
        <p14:creationId xmlns:p14="http://schemas.microsoft.com/office/powerpoint/2010/main" val="511203384"/>
      </p:ext>
    </p:extLst>
  </p:cSld>
  <p:clrMap bg1="dk1" tx1="lt1" bg2="dk2" tx2="lt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FA154-18CF-1F5C-ED45-9AE38BA8058D}"/>
              </a:ext>
            </a:extLst>
          </p:cNvPr>
          <p:cNvSpPr>
            <a:spLocks noGrp="1"/>
          </p:cNvSpPr>
          <p:nvPr>
            <p:ph type="ctrTitle"/>
          </p:nvPr>
        </p:nvSpPr>
        <p:spPr/>
        <p:txBody>
          <a:bodyPr/>
          <a:lstStyle/>
          <a:p>
            <a:r>
              <a:rPr lang="en-US" dirty="0"/>
              <a:t>Portfolio Manager – progress report </a:t>
            </a:r>
          </a:p>
        </p:txBody>
      </p:sp>
      <p:sp>
        <p:nvSpPr>
          <p:cNvPr id="3" name="Subtitle 2">
            <a:extLst>
              <a:ext uri="{FF2B5EF4-FFF2-40B4-BE49-F238E27FC236}">
                <a16:creationId xmlns:a16="http://schemas.microsoft.com/office/drawing/2014/main" id="{9A2D0576-2B7B-3865-7A80-227554409C12}"/>
              </a:ext>
            </a:extLst>
          </p:cNvPr>
          <p:cNvSpPr>
            <a:spLocks noGrp="1"/>
          </p:cNvSpPr>
          <p:nvPr>
            <p:ph type="subTitle" idx="1"/>
          </p:nvPr>
        </p:nvSpPr>
        <p:spPr/>
        <p:txBody>
          <a:bodyPr/>
          <a:lstStyle/>
          <a:p>
            <a:r>
              <a:rPr lang="en-US" dirty="0"/>
              <a:t>Jonathan C. Licurse </a:t>
            </a:r>
          </a:p>
          <a:p>
            <a:r>
              <a:rPr lang="en-US" dirty="0"/>
              <a:t>CPS 485</a:t>
            </a:r>
          </a:p>
          <a:p>
            <a:r>
              <a:rPr lang="en-US" dirty="0"/>
              <a:t>Spring 2026</a:t>
            </a:r>
          </a:p>
        </p:txBody>
      </p:sp>
    </p:spTree>
    <p:extLst>
      <p:ext uri="{BB962C8B-B14F-4D97-AF65-F5344CB8AC3E}">
        <p14:creationId xmlns:p14="http://schemas.microsoft.com/office/powerpoint/2010/main" val="8933688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7255F-05CF-E29A-A046-231FDD8245C8}"/>
              </a:ext>
            </a:extLst>
          </p:cNvPr>
          <p:cNvSpPr>
            <a:spLocks noGrp="1"/>
          </p:cNvSpPr>
          <p:nvPr>
            <p:ph type="title"/>
          </p:nvPr>
        </p:nvSpPr>
        <p:spPr/>
        <p:txBody>
          <a:bodyPr/>
          <a:lstStyle/>
          <a:p>
            <a:r>
              <a:rPr lang="en-US" dirty="0"/>
              <a:t>Why? </a:t>
            </a:r>
          </a:p>
        </p:txBody>
      </p:sp>
      <p:sp>
        <p:nvSpPr>
          <p:cNvPr id="3" name="Content Placeholder 2">
            <a:extLst>
              <a:ext uri="{FF2B5EF4-FFF2-40B4-BE49-F238E27FC236}">
                <a16:creationId xmlns:a16="http://schemas.microsoft.com/office/drawing/2014/main" id="{700DB302-E35F-81A8-7BD1-C1728FE22444}"/>
              </a:ext>
            </a:extLst>
          </p:cNvPr>
          <p:cNvSpPr>
            <a:spLocks noGrp="1"/>
          </p:cNvSpPr>
          <p:nvPr>
            <p:ph idx="1"/>
          </p:nvPr>
        </p:nvSpPr>
        <p:spPr/>
        <p:txBody>
          <a:bodyPr/>
          <a:lstStyle/>
          <a:p>
            <a:r>
              <a:rPr lang="en-US" dirty="0"/>
              <a:t>Many investors track portfolios across different platforms (Yahoo Finance, Personal Capital, SigFig, etc.) </a:t>
            </a:r>
          </a:p>
          <a:p>
            <a:r>
              <a:rPr lang="en-US" dirty="0"/>
              <a:t>Can be difficult to manage positions and see holdings in one place </a:t>
            </a:r>
          </a:p>
          <a:p>
            <a:r>
              <a:rPr lang="en-US" dirty="0"/>
              <a:t>Backend portfolio management API to manage investments</a:t>
            </a:r>
          </a:p>
          <a:p>
            <a:pPr marL="0" indent="0">
              <a:buNone/>
            </a:pPr>
            <a:r>
              <a:rPr lang="en-US" dirty="0"/>
              <a:t> </a:t>
            </a:r>
          </a:p>
        </p:txBody>
      </p:sp>
      <p:pic>
        <p:nvPicPr>
          <p:cNvPr id="5" name="Picture 4">
            <a:extLst>
              <a:ext uri="{FF2B5EF4-FFF2-40B4-BE49-F238E27FC236}">
                <a16:creationId xmlns:a16="http://schemas.microsoft.com/office/drawing/2014/main" id="{C89AEB0C-3BC7-B1FC-35F4-D2F77C3328E8}"/>
              </a:ext>
            </a:extLst>
          </p:cNvPr>
          <p:cNvPicPr>
            <a:picLocks noChangeAspect="1"/>
          </p:cNvPicPr>
          <p:nvPr/>
        </p:nvPicPr>
        <p:blipFill>
          <a:blip r:embed="rId3"/>
          <a:stretch>
            <a:fillRect/>
          </a:stretch>
        </p:blipFill>
        <p:spPr>
          <a:xfrm>
            <a:off x="4325477" y="4634917"/>
            <a:ext cx="2421063" cy="1963024"/>
          </a:xfrm>
          <a:prstGeom prst="rect">
            <a:avLst/>
          </a:prstGeom>
        </p:spPr>
      </p:pic>
    </p:spTree>
    <p:extLst>
      <p:ext uri="{BB962C8B-B14F-4D97-AF65-F5344CB8AC3E}">
        <p14:creationId xmlns:p14="http://schemas.microsoft.com/office/powerpoint/2010/main" val="7774185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D3EAB-E74C-342F-6726-AA1B1D3B61D2}"/>
              </a:ext>
            </a:extLst>
          </p:cNvPr>
          <p:cNvSpPr>
            <a:spLocks noGrp="1"/>
          </p:cNvSpPr>
          <p:nvPr>
            <p:ph type="title"/>
          </p:nvPr>
        </p:nvSpPr>
        <p:spPr/>
        <p:txBody>
          <a:bodyPr/>
          <a:lstStyle/>
          <a:p>
            <a:r>
              <a:rPr lang="en-US" dirty="0"/>
              <a:t>Application Overview </a:t>
            </a:r>
          </a:p>
        </p:txBody>
      </p:sp>
      <p:sp>
        <p:nvSpPr>
          <p:cNvPr id="3" name="Content Placeholder 2">
            <a:extLst>
              <a:ext uri="{FF2B5EF4-FFF2-40B4-BE49-F238E27FC236}">
                <a16:creationId xmlns:a16="http://schemas.microsoft.com/office/drawing/2014/main" id="{CAEF86FC-F6E8-E601-073E-5E35DC72CC71}"/>
              </a:ext>
            </a:extLst>
          </p:cNvPr>
          <p:cNvSpPr>
            <a:spLocks noGrp="1"/>
          </p:cNvSpPr>
          <p:nvPr>
            <p:ph idx="1"/>
          </p:nvPr>
        </p:nvSpPr>
        <p:spPr/>
        <p:txBody>
          <a:bodyPr/>
          <a:lstStyle/>
          <a:p>
            <a:r>
              <a:rPr lang="en-US" dirty="0"/>
              <a:t>Portfolio Creation</a:t>
            </a:r>
          </a:p>
          <a:p>
            <a:r>
              <a:rPr lang="en-US" dirty="0"/>
              <a:t>Adding/Removing/Updating Positions</a:t>
            </a:r>
          </a:p>
          <a:p>
            <a:r>
              <a:rPr lang="en-US" dirty="0"/>
              <a:t>Information Retrieval</a:t>
            </a:r>
          </a:p>
          <a:p>
            <a:pPr marL="0" indent="0">
              <a:buNone/>
            </a:pPr>
            <a:r>
              <a:rPr lang="en-US" dirty="0"/>
              <a:t> </a:t>
            </a:r>
          </a:p>
        </p:txBody>
      </p:sp>
    </p:spTree>
    <p:extLst>
      <p:ext uri="{BB962C8B-B14F-4D97-AF65-F5344CB8AC3E}">
        <p14:creationId xmlns:p14="http://schemas.microsoft.com/office/powerpoint/2010/main" val="35325852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A8F49-1686-89A5-7946-6CA130B7723C}"/>
              </a:ext>
            </a:extLst>
          </p:cNvPr>
          <p:cNvSpPr>
            <a:spLocks noGrp="1"/>
          </p:cNvSpPr>
          <p:nvPr>
            <p:ph type="title"/>
          </p:nvPr>
        </p:nvSpPr>
        <p:spPr/>
        <p:txBody>
          <a:bodyPr/>
          <a:lstStyle/>
          <a:p>
            <a:r>
              <a:rPr lang="en-US" dirty="0"/>
              <a:t>Architecture </a:t>
            </a:r>
          </a:p>
        </p:txBody>
      </p:sp>
      <p:sp>
        <p:nvSpPr>
          <p:cNvPr id="8" name="Rectangle: Rounded Corners 7">
            <a:extLst>
              <a:ext uri="{FF2B5EF4-FFF2-40B4-BE49-F238E27FC236}">
                <a16:creationId xmlns:a16="http://schemas.microsoft.com/office/drawing/2014/main" id="{65DA7B13-F020-825A-7ACA-4149F985F578}"/>
              </a:ext>
            </a:extLst>
          </p:cNvPr>
          <p:cNvSpPr/>
          <p:nvPr/>
        </p:nvSpPr>
        <p:spPr>
          <a:xfrm>
            <a:off x="2043694" y="1976790"/>
            <a:ext cx="1149291" cy="42783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Client </a:t>
            </a:r>
          </a:p>
        </p:txBody>
      </p:sp>
      <p:sp>
        <p:nvSpPr>
          <p:cNvPr id="10" name="Rectangle: Rounded Corners 9">
            <a:extLst>
              <a:ext uri="{FF2B5EF4-FFF2-40B4-BE49-F238E27FC236}">
                <a16:creationId xmlns:a16="http://schemas.microsoft.com/office/drawing/2014/main" id="{A2A73C11-19CD-C8D8-FF5D-BEAF7D524457}"/>
              </a:ext>
            </a:extLst>
          </p:cNvPr>
          <p:cNvSpPr/>
          <p:nvPr/>
        </p:nvSpPr>
        <p:spPr>
          <a:xfrm>
            <a:off x="1817890" y="3140007"/>
            <a:ext cx="1600899" cy="8432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REST Controller Layer  </a:t>
            </a:r>
          </a:p>
        </p:txBody>
      </p:sp>
      <p:sp>
        <p:nvSpPr>
          <p:cNvPr id="11" name="Rectangle: Rounded Corners 10">
            <a:extLst>
              <a:ext uri="{FF2B5EF4-FFF2-40B4-BE49-F238E27FC236}">
                <a16:creationId xmlns:a16="http://schemas.microsoft.com/office/drawing/2014/main" id="{6ECF5D8A-DD6E-6DE4-D468-D8E6FA39E9BD}"/>
              </a:ext>
            </a:extLst>
          </p:cNvPr>
          <p:cNvSpPr/>
          <p:nvPr/>
        </p:nvSpPr>
        <p:spPr>
          <a:xfrm>
            <a:off x="4595578" y="3241374"/>
            <a:ext cx="1498833" cy="64052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Service Layer</a:t>
            </a:r>
          </a:p>
        </p:txBody>
      </p:sp>
      <p:sp>
        <p:nvSpPr>
          <p:cNvPr id="12" name="Rectangle: Rounded Corners 11">
            <a:extLst>
              <a:ext uri="{FF2B5EF4-FFF2-40B4-BE49-F238E27FC236}">
                <a16:creationId xmlns:a16="http://schemas.microsoft.com/office/drawing/2014/main" id="{CD1D2331-C2DA-0776-907E-603FE8517E96}"/>
              </a:ext>
            </a:extLst>
          </p:cNvPr>
          <p:cNvSpPr/>
          <p:nvPr/>
        </p:nvSpPr>
        <p:spPr>
          <a:xfrm>
            <a:off x="4595579" y="4548531"/>
            <a:ext cx="1498833" cy="64052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Domain Models</a:t>
            </a:r>
          </a:p>
        </p:txBody>
      </p:sp>
      <p:sp>
        <p:nvSpPr>
          <p:cNvPr id="13" name="Rectangle: Rounded Corners 12">
            <a:extLst>
              <a:ext uri="{FF2B5EF4-FFF2-40B4-BE49-F238E27FC236}">
                <a16:creationId xmlns:a16="http://schemas.microsoft.com/office/drawing/2014/main" id="{8FEE29CB-782B-3C49-D55D-214D05F12728}"/>
              </a:ext>
            </a:extLst>
          </p:cNvPr>
          <p:cNvSpPr/>
          <p:nvPr/>
        </p:nvSpPr>
        <p:spPr>
          <a:xfrm>
            <a:off x="8086380" y="4548531"/>
            <a:ext cx="1498833" cy="64052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Repository Layer (JPA)</a:t>
            </a:r>
          </a:p>
        </p:txBody>
      </p:sp>
      <p:sp>
        <p:nvSpPr>
          <p:cNvPr id="14" name="Rectangle: Rounded Corners 13">
            <a:extLst>
              <a:ext uri="{FF2B5EF4-FFF2-40B4-BE49-F238E27FC236}">
                <a16:creationId xmlns:a16="http://schemas.microsoft.com/office/drawing/2014/main" id="{DA8EEB87-0544-C7B5-308E-C7E0DE123706}"/>
              </a:ext>
            </a:extLst>
          </p:cNvPr>
          <p:cNvSpPr/>
          <p:nvPr/>
        </p:nvSpPr>
        <p:spPr>
          <a:xfrm>
            <a:off x="8086379" y="5718309"/>
            <a:ext cx="1498833" cy="64052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Database</a:t>
            </a:r>
          </a:p>
        </p:txBody>
      </p:sp>
      <p:cxnSp>
        <p:nvCxnSpPr>
          <p:cNvPr id="22" name="Straight Arrow Connector 21">
            <a:extLst>
              <a:ext uri="{FF2B5EF4-FFF2-40B4-BE49-F238E27FC236}">
                <a16:creationId xmlns:a16="http://schemas.microsoft.com/office/drawing/2014/main" id="{0ACD2BC5-7C60-9FDE-DE2E-4B5623DBBCA5}"/>
              </a:ext>
            </a:extLst>
          </p:cNvPr>
          <p:cNvCxnSpPr>
            <a:stCxn id="10" idx="3"/>
            <a:endCxn id="11" idx="1"/>
          </p:cNvCxnSpPr>
          <p:nvPr/>
        </p:nvCxnSpPr>
        <p:spPr>
          <a:xfrm>
            <a:off x="3418789" y="3561634"/>
            <a:ext cx="1176789" cy="1"/>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6" name="Straight Arrow Connector 25">
            <a:extLst>
              <a:ext uri="{FF2B5EF4-FFF2-40B4-BE49-F238E27FC236}">
                <a16:creationId xmlns:a16="http://schemas.microsoft.com/office/drawing/2014/main" id="{95A6B62A-5778-1A64-9C6F-E63BD0DA144E}"/>
              </a:ext>
            </a:extLst>
          </p:cNvPr>
          <p:cNvCxnSpPr>
            <a:cxnSpLocks/>
            <a:stCxn id="12" idx="3"/>
            <a:endCxn id="13" idx="1"/>
          </p:cNvCxnSpPr>
          <p:nvPr/>
        </p:nvCxnSpPr>
        <p:spPr>
          <a:xfrm>
            <a:off x="6094412" y="4868792"/>
            <a:ext cx="1991968" cy="0"/>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40" name="Straight Arrow Connector 39">
            <a:extLst>
              <a:ext uri="{FF2B5EF4-FFF2-40B4-BE49-F238E27FC236}">
                <a16:creationId xmlns:a16="http://schemas.microsoft.com/office/drawing/2014/main" id="{15B614BE-1C65-1DB3-290B-FAC42E88258D}"/>
              </a:ext>
            </a:extLst>
          </p:cNvPr>
          <p:cNvCxnSpPr>
            <a:cxnSpLocks/>
            <a:stCxn id="8" idx="2"/>
            <a:endCxn id="10" idx="0"/>
          </p:cNvCxnSpPr>
          <p:nvPr/>
        </p:nvCxnSpPr>
        <p:spPr>
          <a:xfrm>
            <a:off x="2618340" y="2404628"/>
            <a:ext cx="0" cy="735379"/>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42" name="Straight Arrow Connector 41">
            <a:extLst>
              <a:ext uri="{FF2B5EF4-FFF2-40B4-BE49-F238E27FC236}">
                <a16:creationId xmlns:a16="http://schemas.microsoft.com/office/drawing/2014/main" id="{0BCB6D35-D460-575A-E3B7-C6852892E35D}"/>
              </a:ext>
            </a:extLst>
          </p:cNvPr>
          <p:cNvCxnSpPr>
            <a:cxnSpLocks/>
            <a:stCxn id="11" idx="2"/>
            <a:endCxn id="12" idx="0"/>
          </p:cNvCxnSpPr>
          <p:nvPr/>
        </p:nvCxnSpPr>
        <p:spPr>
          <a:xfrm>
            <a:off x="5344995" y="3881895"/>
            <a:ext cx="1" cy="666636"/>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44" name="Straight Arrow Connector 43">
            <a:extLst>
              <a:ext uri="{FF2B5EF4-FFF2-40B4-BE49-F238E27FC236}">
                <a16:creationId xmlns:a16="http://schemas.microsoft.com/office/drawing/2014/main" id="{AF6D9299-C0CB-3AED-D775-5B3362AD35E3}"/>
              </a:ext>
            </a:extLst>
          </p:cNvPr>
          <p:cNvCxnSpPr>
            <a:cxnSpLocks/>
            <a:stCxn id="13" idx="2"/>
            <a:endCxn id="14" idx="0"/>
          </p:cNvCxnSpPr>
          <p:nvPr/>
        </p:nvCxnSpPr>
        <p:spPr>
          <a:xfrm flipH="1">
            <a:off x="8835796" y="5189052"/>
            <a:ext cx="1" cy="529257"/>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13692574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68CB4-5B97-0D09-8B4B-499FC37C4CB2}"/>
              </a:ext>
            </a:extLst>
          </p:cNvPr>
          <p:cNvSpPr>
            <a:spLocks noGrp="1"/>
          </p:cNvSpPr>
          <p:nvPr>
            <p:ph type="title"/>
          </p:nvPr>
        </p:nvSpPr>
        <p:spPr/>
        <p:txBody>
          <a:bodyPr/>
          <a:lstStyle/>
          <a:p>
            <a:r>
              <a:rPr lang="en-US" dirty="0"/>
              <a:t>Demo…</a:t>
            </a:r>
          </a:p>
        </p:txBody>
      </p:sp>
      <p:sp>
        <p:nvSpPr>
          <p:cNvPr id="3" name="Content Placeholder 2">
            <a:extLst>
              <a:ext uri="{FF2B5EF4-FFF2-40B4-BE49-F238E27FC236}">
                <a16:creationId xmlns:a16="http://schemas.microsoft.com/office/drawing/2014/main" id="{A83D6F7A-0818-028A-24A4-2645E32E8BC8}"/>
              </a:ext>
            </a:extLst>
          </p:cNvPr>
          <p:cNvSpPr>
            <a:spLocks noGrp="1"/>
          </p:cNvSpPr>
          <p:nvPr>
            <p:ph idx="1"/>
          </p:nvPr>
        </p:nvSpPr>
        <p:spPr/>
        <p:txBody>
          <a:bodyPr/>
          <a:lstStyle/>
          <a:p>
            <a:r>
              <a:rPr lang="en-US" dirty="0"/>
              <a:t>Starting the server</a:t>
            </a:r>
          </a:p>
          <a:p>
            <a:r>
              <a:rPr lang="en-US" dirty="0"/>
              <a:t>Creating a portfolio</a:t>
            </a:r>
          </a:p>
          <a:p>
            <a:r>
              <a:rPr lang="en-US" dirty="0"/>
              <a:t>Adding a position</a:t>
            </a:r>
          </a:p>
          <a:p>
            <a:r>
              <a:rPr lang="en-US" dirty="0"/>
              <a:t>Updating a position</a:t>
            </a:r>
          </a:p>
          <a:p>
            <a:r>
              <a:rPr lang="en-US" dirty="0"/>
              <a:t>Retrieving portfolio </a:t>
            </a:r>
          </a:p>
          <a:p>
            <a:endParaRPr lang="en-US" dirty="0"/>
          </a:p>
        </p:txBody>
      </p:sp>
    </p:spTree>
    <p:extLst>
      <p:ext uri="{BB962C8B-B14F-4D97-AF65-F5344CB8AC3E}">
        <p14:creationId xmlns:p14="http://schemas.microsoft.com/office/powerpoint/2010/main" val="612678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1AA97-7ABF-B1ED-8679-9AF5E90AEF55}"/>
              </a:ext>
            </a:extLst>
          </p:cNvPr>
          <p:cNvSpPr>
            <a:spLocks noGrp="1"/>
          </p:cNvSpPr>
          <p:nvPr>
            <p:ph type="title"/>
          </p:nvPr>
        </p:nvSpPr>
        <p:spPr/>
        <p:txBody>
          <a:bodyPr/>
          <a:lstStyle/>
          <a:p>
            <a:r>
              <a:rPr lang="en-US" dirty="0"/>
              <a:t>Work Completed So far </a:t>
            </a:r>
          </a:p>
        </p:txBody>
      </p:sp>
      <p:sp>
        <p:nvSpPr>
          <p:cNvPr id="3" name="Content Placeholder 2">
            <a:extLst>
              <a:ext uri="{FF2B5EF4-FFF2-40B4-BE49-F238E27FC236}">
                <a16:creationId xmlns:a16="http://schemas.microsoft.com/office/drawing/2014/main" id="{4B0A8749-04B2-68B1-128B-1E319FB6EBCE}"/>
              </a:ext>
            </a:extLst>
          </p:cNvPr>
          <p:cNvSpPr>
            <a:spLocks noGrp="1"/>
          </p:cNvSpPr>
          <p:nvPr>
            <p:ph idx="1"/>
          </p:nvPr>
        </p:nvSpPr>
        <p:spPr>
          <a:xfrm>
            <a:off x="227012" y="1756727"/>
            <a:ext cx="11883708" cy="4943793"/>
          </a:xfrm>
        </p:spPr>
        <p:txBody>
          <a:bodyPr>
            <a:normAutofit/>
          </a:bodyPr>
          <a:lstStyle/>
          <a:p>
            <a:pPr marL="0" indent="0">
              <a:buNone/>
            </a:pPr>
            <a:r>
              <a:rPr lang="en-US" sz="2800" b="1" u="sng" dirty="0"/>
              <a:t>Backend</a:t>
            </a:r>
            <a:r>
              <a:rPr lang="en-US" sz="2800" dirty="0"/>
              <a:t> – Spring Boot backend setup, REST API for portfolio management, CRUD operations (create, retrieve, update, delete) for portfolios </a:t>
            </a:r>
          </a:p>
          <a:p>
            <a:pPr marL="0" indent="0">
              <a:buNone/>
            </a:pPr>
            <a:r>
              <a:rPr lang="en-US" sz="2800" b="1" u="sng" dirty="0"/>
              <a:t>Portfolio Features</a:t>
            </a:r>
            <a:r>
              <a:rPr lang="en-US" sz="2800" b="1" dirty="0"/>
              <a:t> </a:t>
            </a:r>
            <a:r>
              <a:rPr lang="en-US" sz="2800" dirty="0"/>
              <a:t>– Create portfolios, Add investment positions, update positions, delete portfolios </a:t>
            </a:r>
          </a:p>
          <a:p>
            <a:pPr marL="0" indent="0">
              <a:buNone/>
            </a:pPr>
            <a:r>
              <a:rPr lang="en-US" sz="2800" b="1" u="sng" dirty="0"/>
              <a:t>Data Management</a:t>
            </a:r>
            <a:r>
              <a:rPr lang="en-US" sz="2800" b="1" dirty="0"/>
              <a:t> </a:t>
            </a:r>
            <a:r>
              <a:rPr lang="en-US" sz="2800" dirty="0"/>
              <a:t>– Domain Models for Portfolio and Position, JPA entity mapping, Database persistence using Spring Data JPA </a:t>
            </a:r>
          </a:p>
          <a:p>
            <a:pPr marL="0" indent="0">
              <a:lnSpc>
                <a:spcPct val="100000"/>
              </a:lnSpc>
              <a:buNone/>
            </a:pPr>
            <a:endParaRPr lang="en-US" sz="1800" dirty="0"/>
          </a:p>
          <a:p>
            <a:pPr marL="0" indent="0">
              <a:buNone/>
            </a:pPr>
            <a:endParaRPr lang="en-US" sz="1400" dirty="0"/>
          </a:p>
          <a:p>
            <a:pPr marL="0" indent="0">
              <a:buNone/>
            </a:pPr>
            <a:endParaRPr lang="en-US" sz="1400" dirty="0"/>
          </a:p>
          <a:p>
            <a:pPr marL="457200" lvl="1" indent="0">
              <a:buNone/>
            </a:pPr>
            <a:endParaRPr lang="en-US" sz="1400" dirty="0"/>
          </a:p>
          <a:p>
            <a:pPr lvl="1"/>
            <a:endParaRPr lang="en-US" sz="1400" dirty="0"/>
          </a:p>
          <a:p>
            <a:pPr lvl="1"/>
            <a:endParaRPr lang="en-US" sz="1400" dirty="0"/>
          </a:p>
          <a:p>
            <a:pPr lvl="1"/>
            <a:endParaRPr lang="en-US" sz="1400" dirty="0"/>
          </a:p>
          <a:p>
            <a:pPr lvl="1"/>
            <a:endParaRPr lang="en-US" sz="1400" dirty="0"/>
          </a:p>
          <a:p>
            <a:pPr lvl="1"/>
            <a:endParaRPr lang="en-US" sz="1400" dirty="0"/>
          </a:p>
          <a:p>
            <a:pPr lvl="1"/>
            <a:endParaRPr lang="en-US" sz="1400" dirty="0"/>
          </a:p>
          <a:p>
            <a:pPr lvl="1"/>
            <a:endParaRPr lang="en-US" sz="1400" dirty="0"/>
          </a:p>
          <a:p>
            <a:pPr lvl="1"/>
            <a:endParaRPr lang="en-US" sz="1400" dirty="0"/>
          </a:p>
          <a:p>
            <a:pPr lvl="1"/>
            <a:endParaRPr lang="en-US" sz="1400" dirty="0"/>
          </a:p>
          <a:p>
            <a:pPr marL="457200" lvl="1" indent="0">
              <a:buNone/>
            </a:pPr>
            <a:endParaRPr lang="en-US" sz="1400" dirty="0"/>
          </a:p>
        </p:txBody>
      </p:sp>
    </p:spTree>
    <p:extLst>
      <p:ext uri="{BB962C8B-B14F-4D97-AF65-F5344CB8AC3E}">
        <p14:creationId xmlns:p14="http://schemas.microsoft.com/office/powerpoint/2010/main" val="41572221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D6274-AC27-0F50-574B-07C6DCA62BB7}"/>
              </a:ext>
            </a:extLst>
          </p:cNvPr>
          <p:cNvSpPr>
            <a:spLocks noGrp="1"/>
          </p:cNvSpPr>
          <p:nvPr>
            <p:ph type="title"/>
          </p:nvPr>
        </p:nvSpPr>
        <p:spPr/>
        <p:txBody>
          <a:bodyPr/>
          <a:lstStyle/>
          <a:p>
            <a:r>
              <a:rPr lang="en-US" dirty="0"/>
              <a:t>Challenges encountered</a:t>
            </a:r>
          </a:p>
        </p:txBody>
      </p:sp>
      <p:sp>
        <p:nvSpPr>
          <p:cNvPr id="3" name="Content Placeholder 2">
            <a:extLst>
              <a:ext uri="{FF2B5EF4-FFF2-40B4-BE49-F238E27FC236}">
                <a16:creationId xmlns:a16="http://schemas.microsoft.com/office/drawing/2014/main" id="{1D4793DC-401A-B872-406B-AECE1E632701}"/>
              </a:ext>
            </a:extLst>
          </p:cNvPr>
          <p:cNvSpPr>
            <a:spLocks noGrp="1"/>
          </p:cNvSpPr>
          <p:nvPr>
            <p:ph idx="1"/>
          </p:nvPr>
        </p:nvSpPr>
        <p:spPr/>
        <p:txBody>
          <a:bodyPr/>
          <a:lstStyle/>
          <a:p>
            <a:r>
              <a:rPr lang="en-US" dirty="0"/>
              <a:t>Integration Testing </a:t>
            </a:r>
            <a:r>
              <a:rPr lang="en-US" dirty="0">
                <a:sym typeface="Wingdings" panose="05000000000000000000" pitchFamily="2" charset="2"/>
              </a:rPr>
              <a:t> exposed more bugs</a:t>
            </a:r>
          </a:p>
          <a:p>
            <a:r>
              <a:rPr lang="en-US" dirty="0">
                <a:sym typeface="Wingdings" panose="05000000000000000000" pitchFamily="2" charset="2"/>
              </a:rPr>
              <a:t>JPA persistence behavior </a:t>
            </a:r>
          </a:p>
          <a:p>
            <a:r>
              <a:rPr lang="en-US" dirty="0">
                <a:sym typeface="Wingdings" panose="05000000000000000000" pitchFamily="2" charset="2"/>
              </a:rPr>
              <a:t>Mapping entities to domain objects </a:t>
            </a:r>
            <a:endParaRPr lang="en-US" dirty="0"/>
          </a:p>
        </p:txBody>
      </p:sp>
    </p:spTree>
    <p:extLst>
      <p:ext uri="{BB962C8B-B14F-4D97-AF65-F5344CB8AC3E}">
        <p14:creationId xmlns:p14="http://schemas.microsoft.com/office/powerpoint/2010/main" val="22031224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F1320-D333-70F5-D1D1-AB8B86C0F2D8}"/>
              </a:ext>
            </a:extLst>
          </p:cNvPr>
          <p:cNvSpPr>
            <a:spLocks noGrp="1"/>
          </p:cNvSpPr>
          <p:nvPr>
            <p:ph type="title"/>
          </p:nvPr>
        </p:nvSpPr>
        <p:spPr/>
        <p:txBody>
          <a:bodyPr/>
          <a:lstStyle/>
          <a:p>
            <a:r>
              <a:rPr lang="en-US" dirty="0"/>
              <a:t>Next Steps </a:t>
            </a:r>
          </a:p>
        </p:txBody>
      </p:sp>
      <p:sp>
        <p:nvSpPr>
          <p:cNvPr id="3" name="Content Placeholder 2">
            <a:extLst>
              <a:ext uri="{FF2B5EF4-FFF2-40B4-BE49-F238E27FC236}">
                <a16:creationId xmlns:a16="http://schemas.microsoft.com/office/drawing/2014/main" id="{8074ED95-A9F1-B565-8B6D-09B4B38ED414}"/>
              </a:ext>
            </a:extLst>
          </p:cNvPr>
          <p:cNvSpPr>
            <a:spLocks noGrp="1"/>
          </p:cNvSpPr>
          <p:nvPr>
            <p:ph idx="1"/>
          </p:nvPr>
        </p:nvSpPr>
        <p:spPr/>
        <p:txBody>
          <a:bodyPr/>
          <a:lstStyle/>
          <a:p>
            <a:r>
              <a:rPr lang="en-US" dirty="0"/>
              <a:t>Analytics tool </a:t>
            </a:r>
          </a:p>
          <a:p>
            <a:r>
              <a:rPr lang="en-US" dirty="0"/>
              <a:t>Additional endpoints </a:t>
            </a:r>
          </a:p>
          <a:p>
            <a:r>
              <a:rPr lang="en-US" dirty="0"/>
              <a:t>Integrate market price API </a:t>
            </a:r>
          </a:p>
          <a:p>
            <a:r>
              <a:rPr lang="en-US" dirty="0"/>
              <a:t>Maybe…just maybe…a frontend </a:t>
            </a:r>
          </a:p>
        </p:txBody>
      </p:sp>
    </p:spTree>
    <p:extLst>
      <p:ext uri="{BB962C8B-B14F-4D97-AF65-F5344CB8AC3E}">
        <p14:creationId xmlns:p14="http://schemas.microsoft.com/office/powerpoint/2010/main" val="304529960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TM04033919[[fn=Circuit]]</Template>
  <TotalTime>103</TotalTime>
  <Words>814</Words>
  <Application>Microsoft Office PowerPoint</Application>
  <PresentationFormat>Widescreen</PresentationFormat>
  <Paragraphs>86</Paragraphs>
  <Slides>8</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Arial</vt:lpstr>
      <vt:lpstr>Tw Cen MT</vt:lpstr>
      <vt:lpstr>Wingdings</vt:lpstr>
      <vt:lpstr>Circuit</vt:lpstr>
      <vt:lpstr>Portfolio Manager – progress report </vt:lpstr>
      <vt:lpstr>Why? </vt:lpstr>
      <vt:lpstr>Application Overview </vt:lpstr>
      <vt:lpstr>Architecture </vt:lpstr>
      <vt:lpstr>Demo…</vt:lpstr>
      <vt:lpstr>Work Completed So far </vt:lpstr>
      <vt:lpstr>Challenges encountered</vt:lpstr>
      <vt:lpstr>Next Steps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Jon Licurse</dc:creator>
  <cp:lastModifiedBy>Jon Licurse</cp:lastModifiedBy>
  <cp:revision>1</cp:revision>
  <dcterms:created xsi:type="dcterms:W3CDTF">2026-03-16T19:40:40Z</dcterms:created>
  <dcterms:modified xsi:type="dcterms:W3CDTF">2026-03-16T21:23:54Z</dcterms:modified>
</cp:coreProperties>
</file>